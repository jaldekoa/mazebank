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154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548640"/>
            <a:ext cx="69494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97280" y="548640"/>
            <a:ext cx="6949440" cy="822960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97280" y="1371600"/>
            <a:ext cx="6949440" cy="25603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97280" y="5486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MAZEBANK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3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BANCO MÁS IMPORTANTE DE LOS SANTOS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Renovación Digital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80160" y="228600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Bancaria — Fase 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280160" y="288036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nueva era para la banca digital en Los Santos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2026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736592"/>
            <a:ext cx="9144000" cy="384048"/>
          </a:xfrm>
          <a:prstGeom prst="rect">
            <a:avLst/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0" y="473659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 — USO INTERNO MAZEBANK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RETO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necesitaba MazeBank?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35661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SITUACIÓN INICIAL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20116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04672" y="16276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bancarias sin soporte digital moderno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212848"/>
            <a:ext cx="20116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04672" y="217627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APIs disponibles para integración con terceros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20116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804672" y="27249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manual de cuentas y movimientos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20116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04672" y="32735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autenticación ni control de acceso unificado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858768"/>
            <a:ext cx="20116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04672" y="382219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Imposible escalar ni conectar nuevas aplicaciones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069080" cy="3566160"/>
          </a:xfrm>
          <a:prstGeom prst="rect">
            <a:avLst/>
          </a:prstGeom>
          <a:solidFill>
            <a:srgbClr val="9E0000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93776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NUESTRA RESPUESTA</a:t>
            </a:r>
            <a:endParaRPr lang="en-US" sz="12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709928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30368" y="16733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completa y documentada</a:t>
            </a:r>
            <a:endParaRPr lang="en-US" sz="120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258568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230368" y="222199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JWT segura y moderna</a:t>
            </a:r>
            <a:endParaRPr lang="en-US" sz="12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807208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30368" y="27706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cuentas, saldos y movimientos</a:t>
            </a:r>
            <a:endParaRPr lang="en-US" sz="12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355848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30368" y="331927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transaccionales con integridad total</a:t>
            </a:r>
            <a:endParaRPr lang="en-US" sz="12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904488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230368" y="38679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lista para conectar cualquier aplicación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MAZEBANK API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plataforma bancaria preparada para el futuro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155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MazeBank API es la columna vertebral digital del banco.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320040" y="1554480"/>
            <a:ext cx="2651760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9202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0174" y="244830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Gestión de Usuarios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9768" y="2743200"/>
            <a:ext cx="24323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Registro, login y perfiles seguros. Cada cliente identificado con credenciales cifradas.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5544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200400" y="1554480"/>
            <a:ext cx="2651760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059" y="1899666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91840" y="244830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Cuentas Bancarias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10128" y="2743200"/>
            <a:ext cx="24323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y gestión de cuentas con numeración ES000001. Control de saldos en tiempo real.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80760" y="15544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4"/>
          <p:cNvSpPr/>
          <p:nvPr/>
        </p:nvSpPr>
        <p:spPr>
          <a:xfrm>
            <a:off x="6080760" y="1554480"/>
            <a:ext cx="2651760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810512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454511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Movimientos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190488" y="2743200"/>
            <a:ext cx="24323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Depósitos, retiradas y transferencias con historial completo y paginado por cuenta.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02920" y="3794760"/>
            <a:ext cx="1828800" cy="96012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18"/>
          <p:cNvSpPr/>
          <p:nvPr/>
        </p:nvSpPr>
        <p:spPr>
          <a:xfrm>
            <a:off x="594360" y="38907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594360" y="434797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REST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2587752" y="3794760"/>
            <a:ext cx="1828800" cy="96012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1"/>
          <p:cNvSpPr/>
          <p:nvPr/>
        </p:nvSpPr>
        <p:spPr>
          <a:xfrm>
            <a:off x="2679192" y="3886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27" name="Text 22"/>
          <p:cNvSpPr/>
          <p:nvPr/>
        </p:nvSpPr>
        <p:spPr>
          <a:xfrm>
            <a:off x="2679192" y="434797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de datos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4672584" y="3794760"/>
            <a:ext cx="1828800" cy="96012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4"/>
          <p:cNvSpPr/>
          <p:nvPr/>
        </p:nvSpPr>
        <p:spPr>
          <a:xfrm>
            <a:off x="4764024" y="3880975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JWT</a:t>
            </a:r>
            <a:endParaRPr lang="en-US" sz="2600" dirty="0"/>
          </a:p>
        </p:txBody>
      </p:sp>
      <p:sp>
        <p:nvSpPr>
          <p:cNvPr id="30" name="Text 25"/>
          <p:cNvSpPr/>
          <p:nvPr/>
        </p:nvSpPr>
        <p:spPr>
          <a:xfrm>
            <a:off x="4764024" y="434797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757416" y="3794760"/>
            <a:ext cx="1828800" cy="96012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7"/>
          <p:cNvSpPr/>
          <p:nvPr/>
        </p:nvSpPr>
        <p:spPr>
          <a:xfrm>
            <a:off x="6848856" y="3880975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600" dirty="0"/>
          </a:p>
        </p:txBody>
      </p:sp>
      <p:sp>
        <p:nvSpPr>
          <p:cNvPr id="33" name="Text 28"/>
          <p:cNvSpPr/>
          <p:nvPr/>
        </p:nvSpPr>
        <p:spPr>
          <a:xfrm>
            <a:off x="6848856" y="4343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Docker-ready</a:t>
            </a:r>
            <a:endParaRPr lang="en-US" sz="1000" dirty="0"/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EE1EE853-19B6-1A02-0FBF-52A104B55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3468" y="1923506"/>
            <a:ext cx="461772" cy="4617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FUNCIONALIDADES PRINCIPALES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necesita un banco moderno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56032" cy="16916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53796" y="1165207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Usuarios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04088" y="1645920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886968" y="160934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 DNI único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4088" y="1901952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88696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Contraseñas cifradas (bcrypt)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04088" y="2157984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886968" y="212140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 JWT (1h de sesión)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04088" y="2414016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886968" y="237744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de perfil propio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754880" y="1078992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4754880" y="1078992"/>
            <a:ext cx="256032" cy="16916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7"/>
          <p:cNvSpPr/>
          <p:nvPr/>
        </p:nvSpPr>
        <p:spPr>
          <a:xfrm>
            <a:off x="5184648" y="1165207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Cuentas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138928" y="1645920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19"/>
          <p:cNvSpPr/>
          <p:nvPr/>
        </p:nvSpPr>
        <p:spPr>
          <a:xfrm>
            <a:off x="5321808" y="160934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automático ES000001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138928" y="1901952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1"/>
          <p:cNvSpPr/>
          <p:nvPr/>
        </p:nvSpPr>
        <p:spPr>
          <a:xfrm>
            <a:off x="532180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Renombrar cuentas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138928" y="2157984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3"/>
          <p:cNvSpPr/>
          <p:nvPr/>
        </p:nvSpPr>
        <p:spPr>
          <a:xfrm>
            <a:off x="5321808" y="212140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de saldo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38928" y="2414016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5"/>
          <p:cNvSpPr/>
          <p:nvPr/>
        </p:nvSpPr>
        <p:spPr>
          <a:xfrm>
            <a:off x="5321808" y="237744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Borrado protegido (con saldo)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320040" y="2953512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7"/>
          <p:cNvSpPr/>
          <p:nvPr/>
        </p:nvSpPr>
        <p:spPr>
          <a:xfrm>
            <a:off x="320040" y="2953512"/>
            <a:ext cx="256032" cy="16916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44952"/>
            <a:ext cx="384048" cy="38404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53796" y="3044952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Transacciones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04088" y="3520440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0"/>
          <p:cNvSpPr/>
          <p:nvPr/>
        </p:nvSpPr>
        <p:spPr>
          <a:xfrm>
            <a:off x="886968" y="3483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Depósito desde cuenta propia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04088" y="3776472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2"/>
          <p:cNvSpPr/>
          <p:nvPr/>
        </p:nvSpPr>
        <p:spPr>
          <a:xfrm>
            <a:off x="886968" y="373989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Retirada con validación de saldo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04088" y="4032504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4"/>
          <p:cNvSpPr/>
          <p:nvPr/>
        </p:nvSpPr>
        <p:spPr>
          <a:xfrm>
            <a:off x="886968" y="399592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 entre cuentas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04088" y="4288536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6"/>
          <p:cNvSpPr/>
          <p:nvPr/>
        </p:nvSpPr>
        <p:spPr>
          <a:xfrm>
            <a:off x="886968" y="42519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paginado con filtros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4754880" y="2953512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3" name="Shape 38"/>
          <p:cNvSpPr/>
          <p:nvPr/>
        </p:nvSpPr>
        <p:spPr>
          <a:xfrm>
            <a:off x="4754880" y="2953512"/>
            <a:ext cx="256032" cy="16916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3044952"/>
            <a:ext cx="384048" cy="384048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5138928" y="3041033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Integración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5138928" y="3520440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1"/>
          <p:cNvSpPr/>
          <p:nvPr/>
        </p:nvSpPr>
        <p:spPr>
          <a:xfrm>
            <a:off x="5321808" y="3483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estándar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5138928" y="3776472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3"/>
          <p:cNvSpPr/>
          <p:nvPr/>
        </p:nvSpPr>
        <p:spPr>
          <a:xfrm>
            <a:off x="5321808" y="373989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interactivo</a:t>
            </a:r>
            <a:endParaRPr lang="en-US" sz="1050" dirty="0"/>
          </a:p>
        </p:txBody>
      </p:sp>
      <p:sp>
        <p:nvSpPr>
          <p:cNvPr id="50" name="Shape 44"/>
          <p:cNvSpPr/>
          <p:nvPr/>
        </p:nvSpPr>
        <p:spPr>
          <a:xfrm>
            <a:off x="5138928" y="4032504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5"/>
          <p:cNvSpPr/>
          <p:nvPr/>
        </p:nvSpPr>
        <p:spPr>
          <a:xfrm>
            <a:off x="5321808" y="399592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JSON limpias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5138928" y="4288536"/>
            <a:ext cx="91440" cy="1280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47"/>
          <p:cNvSpPr/>
          <p:nvPr/>
        </p:nvSpPr>
        <p:spPr>
          <a:xfrm>
            <a:off x="5321808" y="42519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Preparado para móvil / web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 DEL SISTEMA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Organización limpia, mantenible y escalable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el patrón MVC adaptado a APIs REST, con separación clara de responsabilidades en cada capa.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" y="1854931"/>
            <a:ext cx="1115568" cy="566928"/>
          </a:xfrm>
          <a:prstGeom prst="rect">
            <a:avLst/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92608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608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/ Postman / App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408176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1517904" y="1854931"/>
            <a:ext cx="1115568" cy="56692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517904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RUTAS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517904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Router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633472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743200" y="1854931"/>
            <a:ext cx="1115568" cy="5669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2743200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MIDDLEWARE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743200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JWT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858768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968496" y="1854931"/>
            <a:ext cx="1115568" cy="566928"/>
          </a:xfrm>
          <a:prstGeom prst="rect">
            <a:avLst/>
          </a:prstGeom>
          <a:solidFill>
            <a:srgbClr val="5D5F5F"/>
          </a:solidFill>
          <a:ln w="12700">
            <a:solidFill>
              <a:srgbClr val="5D5F5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968496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CONTROLADORES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968496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HTTP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084064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5193792" y="1854931"/>
            <a:ext cx="1115568" cy="566928"/>
          </a:xfrm>
          <a:prstGeom prst="rect">
            <a:avLst/>
          </a:prstGeom>
          <a:solidFill>
            <a:srgbClr val="5D5F5F"/>
          </a:solidFill>
          <a:ln w="12700">
            <a:solidFill>
              <a:srgbClr val="5D5F5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193792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SERVICIOS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193792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309360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6419088" y="1854931"/>
            <a:ext cx="1115568" cy="566928"/>
          </a:xfrm>
          <a:prstGeom prst="rect">
            <a:avLst/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6419088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419088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Sequelize ORM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7534656" y="2120107"/>
            <a:ext cx="109728" cy="36576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7644384" y="1854931"/>
            <a:ext cx="1115568" cy="56692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7644384" y="185493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PostgreSQL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644384" y="2147539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" y="2910404"/>
            <a:ext cx="8503920" cy="1753036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502920" y="3102423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FLUJO DE TRANSFERENCIA — PASO A PASO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50292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2976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envía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/transfer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2296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Shape 38"/>
          <p:cNvSpPr/>
          <p:nvPr/>
        </p:nvSpPr>
        <p:spPr>
          <a:xfrm>
            <a:off x="169164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169164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61848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JWT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01168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Shape 42"/>
          <p:cNvSpPr/>
          <p:nvPr/>
        </p:nvSpPr>
        <p:spPr>
          <a:xfrm>
            <a:off x="288036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288036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280720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inicia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SQL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20040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Shape 46"/>
          <p:cNvSpPr/>
          <p:nvPr/>
        </p:nvSpPr>
        <p:spPr>
          <a:xfrm>
            <a:off x="406908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406908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99592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 cuentas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lock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38912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Shape 50"/>
          <p:cNvSpPr/>
          <p:nvPr/>
        </p:nvSpPr>
        <p:spPr>
          <a:xfrm>
            <a:off x="525780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525780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8464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saldo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propiedad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57784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4"/>
          <p:cNvSpPr/>
          <p:nvPr/>
        </p:nvSpPr>
        <p:spPr>
          <a:xfrm>
            <a:off x="644652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5"/>
          <p:cNvSpPr/>
          <p:nvPr/>
        </p:nvSpPr>
        <p:spPr>
          <a:xfrm>
            <a:off x="644652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37336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766560" y="3641919"/>
            <a:ext cx="841248" cy="27432"/>
          </a:xfrm>
          <a:prstGeom prst="rect">
            <a:avLst/>
          </a:prstGeom>
          <a:solidFill>
            <a:srgbClr val="DADADA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0" name="Shape 58"/>
          <p:cNvSpPr/>
          <p:nvPr/>
        </p:nvSpPr>
        <p:spPr>
          <a:xfrm>
            <a:off x="7635240" y="3513903"/>
            <a:ext cx="292608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9"/>
          <p:cNvSpPr/>
          <p:nvPr/>
        </p:nvSpPr>
        <p:spPr>
          <a:xfrm>
            <a:off x="7635240" y="35139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562088" y="3879663"/>
            <a:ext cx="11155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→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 Created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ENDPOINTS DISPONIBLES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completa de operaciones bancarias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269995"/>
              </p:ext>
            </p:extLst>
          </p:nvPr>
        </p:nvGraphicFramePr>
        <p:xfrm>
          <a:off x="754380" y="1193945"/>
          <a:ext cx="7635240" cy="3566160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MÉTODO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RUTA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DESCRIPCIÓN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AUTH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/api/user/register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Registrar usuario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/api/user/login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Iniciar sesión y obtener JWT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/api/user/me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Consultar perfil propio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PATCH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4C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/api/user/me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Actualizar datos de perfil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DELETE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/api/user/me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Eliminar cuenta de usuario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Listar cuentas del usuario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Crear nueva cuenta bancaria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/api/account/:numero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Consultar cuenta específica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/api/transaction/:numero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Historial paginado de movimientos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/api/transaction/deposit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Realizar depósito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/api/transaction/withdraw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Realizar retirada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F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/api/transaction/transfer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Transferencia entre cuentas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</a:rPr>
                        <a:t>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SEGURIDAD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implementadas para proteger datos, saldos e integridad de operaciones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225296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15910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JWT — Tokens de Sesión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19202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usuario recibe un token firmado con clave secreta y expiración de 1 hora. Sin token válido, no hay acceso a cuentas ni transacciones.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182112" y="11155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3182112" y="11155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1225296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15910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bcrypt — Contraseñas Cifradas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474720" y="19202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contraseñas nunca se almacenan en texto plano. bcrypt aplica hash con salt, protegiendo las credenciales aunque la base de datos se vea comprometida.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089904" y="11155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3"/>
          <p:cNvSpPr/>
          <p:nvPr/>
        </p:nvSpPr>
        <p:spPr>
          <a:xfrm>
            <a:off x="6089904" y="11155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225296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82512" y="15910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Transacciones SQL Atómicas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382512" y="19202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Depósitos, retiradas y transferencias usan BEGIN / COMMIT / ROLLBACK. Si algo falla a mitad de operación, todo se revierte. El saldo siempre es consistente.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274320" y="29443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17"/>
          <p:cNvSpPr/>
          <p:nvPr/>
        </p:nvSpPr>
        <p:spPr>
          <a:xfrm>
            <a:off x="274320" y="29443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3054096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66928" y="34198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 Sequelize — Integridad de Datos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66928" y="37490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ORM bloquea modificaciones directas sobre balance y accountNumber. El saldo solo puede cambiar a través de operaciones transaccionales validadas.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182112" y="29443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1"/>
          <p:cNvSpPr/>
          <p:nvPr/>
        </p:nvSpPr>
        <p:spPr>
          <a:xfrm>
            <a:off x="3182112" y="29443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3008" y="3054096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474720" y="34198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Rate Limiting — Control de Abuso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3474720" y="37490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Máximo 100 peticiones cada 5 minutos por IP. Protege la API frente a ataques de fuerza bruta, scraping masivo o uso indebido de las credenciales.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6089904" y="2944368"/>
            <a:ext cx="2788920" cy="1600200"/>
          </a:xfrm>
          <a:prstGeom prst="rect">
            <a:avLst/>
          </a:prstGeom>
          <a:solidFill>
            <a:srgbClr val="2F3131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6089904" y="2944368"/>
            <a:ext cx="201168" cy="1600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054096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382512" y="341985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CORS y Validación de Acceso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6382512" y="37490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configurado en Express. El modelo Users excluye el campo password por defecto (defaultScope). Las cuentas con saldo no pueden eliminarse.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TECNOLOGÍAS UTILIZADAS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moderno, estable y ampliamente adoptado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2412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788920" cy="310896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BACKEND</a:t>
            </a:r>
            <a:endParaRPr lang="en-US" sz="1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4813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14447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20+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86537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8368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5.x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24942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8368" y="2212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Sequelize ORM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182112" y="102412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1"/>
          <p:cNvSpPr/>
          <p:nvPr/>
        </p:nvSpPr>
        <p:spPr>
          <a:xfrm>
            <a:off x="3182112" y="1024128"/>
            <a:ext cx="2788920" cy="31089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2"/>
          <p:cNvSpPr/>
          <p:nvPr/>
        </p:nvSpPr>
        <p:spPr>
          <a:xfrm>
            <a:off x="3182112" y="10241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BASE DE DATOS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481328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566160" y="14447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865376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56616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pgAdmin (opcional)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249424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3566160" y="2212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SQL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6089904" y="102412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17"/>
          <p:cNvSpPr/>
          <p:nvPr/>
        </p:nvSpPr>
        <p:spPr>
          <a:xfrm>
            <a:off x="6089904" y="1024128"/>
            <a:ext cx="2788920" cy="310896"/>
          </a:xfrm>
          <a:prstGeom prst="rect">
            <a:avLst/>
          </a:prstGeom>
          <a:solidFill>
            <a:srgbClr val="4C4C4D"/>
          </a:solidFill>
          <a:ln w="12700">
            <a:solidFill>
              <a:srgbClr val="4C4C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18"/>
          <p:cNvSpPr/>
          <p:nvPr/>
        </p:nvSpPr>
        <p:spPr>
          <a:xfrm>
            <a:off x="6089904" y="10241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SEGURIDAD</a:t>
            </a:r>
            <a:endParaRPr lang="en-US" sz="1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481328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473952" y="14447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(jsonwebtoken)</a:t>
            </a:r>
            <a:endParaRPr lang="en-US" sz="11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865376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473952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</a:t>
            </a:r>
            <a:endParaRPr lang="en-US" sz="1100" dirty="0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249424"/>
            <a:ext cx="201168" cy="20116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473952" y="2212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/ CORS</a:t>
            </a:r>
            <a:endParaRPr lang="en-US" sz="1100" dirty="0"/>
          </a:p>
        </p:txBody>
      </p:sp>
      <p:sp>
        <p:nvSpPr>
          <p:cNvPr id="33" name="Shape 22"/>
          <p:cNvSpPr/>
          <p:nvPr/>
        </p:nvSpPr>
        <p:spPr>
          <a:xfrm>
            <a:off x="274320" y="294436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Shape 23"/>
          <p:cNvSpPr/>
          <p:nvPr/>
        </p:nvSpPr>
        <p:spPr>
          <a:xfrm>
            <a:off x="274320" y="2944368"/>
            <a:ext cx="2788920" cy="310896"/>
          </a:xfrm>
          <a:prstGeom prst="rect">
            <a:avLst/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24"/>
          <p:cNvSpPr/>
          <p:nvPr/>
        </p:nvSpPr>
        <p:spPr>
          <a:xfrm>
            <a:off x="274320" y="294436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INFRAESTRUCTURA</a:t>
            </a:r>
            <a:endParaRPr lang="en-US" sz="10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401568"/>
            <a:ext cx="201168" cy="201168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658368" y="33649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Docker Compose</a:t>
            </a:r>
            <a:endParaRPr lang="en-US" sz="1100" dirty="0"/>
          </a:p>
        </p:txBody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785616"/>
            <a:ext cx="201168" cy="201168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658368" y="37490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multi-stage</a:t>
            </a:r>
            <a:endParaRPr lang="en-US" sz="1100" dirty="0"/>
          </a:p>
        </p:txBody>
      </p:sp>
      <p:pic>
        <p:nvPicPr>
          <p:cNvPr id="40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169664"/>
            <a:ext cx="201168" cy="201168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658368" y="41330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de entorno .env</a:t>
            </a:r>
            <a:endParaRPr lang="en-US" sz="1100" dirty="0"/>
          </a:p>
        </p:txBody>
      </p:sp>
      <p:sp>
        <p:nvSpPr>
          <p:cNvPr id="42" name="Shape 28"/>
          <p:cNvSpPr/>
          <p:nvPr/>
        </p:nvSpPr>
        <p:spPr>
          <a:xfrm>
            <a:off x="3182112" y="294436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Shape 29"/>
          <p:cNvSpPr/>
          <p:nvPr/>
        </p:nvSpPr>
        <p:spPr>
          <a:xfrm>
            <a:off x="3182112" y="2944368"/>
            <a:ext cx="2788920" cy="3108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30"/>
          <p:cNvSpPr/>
          <p:nvPr/>
        </p:nvSpPr>
        <p:spPr>
          <a:xfrm>
            <a:off x="3182112" y="294436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DOCUMENTACIÓN</a:t>
            </a:r>
            <a:endParaRPr lang="en-US" sz="1000" dirty="0"/>
          </a:p>
        </p:txBody>
      </p:sp>
      <p:pic>
        <p:nvPicPr>
          <p:cNvPr id="45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401568"/>
            <a:ext cx="201168" cy="201168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3566160" y="33649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/ OpenAPI</a:t>
            </a:r>
            <a:endParaRPr lang="en-US" sz="1100" dirty="0"/>
          </a:p>
        </p:txBody>
      </p:sp>
      <p:pic>
        <p:nvPicPr>
          <p:cNvPr id="47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785616"/>
            <a:ext cx="201168" cy="201168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3566160" y="37490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JSDoc</a:t>
            </a:r>
            <a:endParaRPr lang="en-US" sz="1100" dirty="0"/>
          </a:p>
        </p:txBody>
      </p:sp>
      <p:pic>
        <p:nvPicPr>
          <p:cNvPr id="49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69664"/>
            <a:ext cx="201168" cy="201168"/>
          </a:xfrm>
          <a:prstGeom prst="rect">
            <a:avLst/>
          </a:prstGeom>
        </p:spPr>
      </p:pic>
      <p:sp>
        <p:nvSpPr>
          <p:cNvPr id="50" name="Text 33"/>
          <p:cNvSpPr/>
          <p:nvPr/>
        </p:nvSpPr>
        <p:spPr>
          <a:xfrm>
            <a:off x="3566160" y="41330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detallado</a:t>
            </a:r>
            <a:endParaRPr lang="en-US" sz="1100" dirty="0"/>
          </a:p>
        </p:txBody>
      </p:sp>
      <p:sp>
        <p:nvSpPr>
          <p:cNvPr id="51" name="Shape 34"/>
          <p:cNvSpPr/>
          <p:nvPr/>
        </p:nvSpPr>
        <p:spPr>
          <a:xfrm>
            <a:off x="6089904" y="2944368"/>
            <a:ext cx="2788920" cy="173736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Shape 35"/>
          <p:cNvSpPr/>
          <p:nvPr/>
        </p:nvSpPr>
        <p:spPr>
          <a:xfrm>
            <a:off x="6089904" y="2944368"/>
            <a:ext cx="2788920" cy="310896"/>
          </a:xfrm>
          <a:prstGeom prst="rect">
            <a:avLst/>
          </a:prstGeom>
          <a:solidFill>
            <a:srgbClr val="5D5F5F"/>
          </a:solidFill>
          <a:ln w="12700">
            <a:solidFill>
              <a:srgbClr val="5D5F5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36"/>
          <p:cNvSpPr/>
          <p:nvPr/>
        </p:nvSpPr>
        <p:spPr>
          <a:xfrm>
            <a:off x="6089904" y="294436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FRONTEND (proto)</a:t>
            </a:r>
            <a:endParaRPr lang="en-US" sz="1000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3401568"/>
            <a:ext cx="201168" cy="201168"/>
          </a:xfrm>
          <a:prstGeom prst="rect">
            <a:avLst/>
          </a:prstGeom>
        </p:spPr>
      </p:pic>
      <p:sp>
        <p:nvSpPr>
          <p:cNvPr id="55" name="Text 37"/>
          <p:cNvSpPr/>
          <p:nvPr/>
        </p:nvSpPr>
        <p:spPr>
          <a:xfrm>
            <a:off x="6473952" y="33649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EJS Templates</a:t>
            </a:r>
            <a:endParaRPr lang="en-US" sz="1100" dirty="0"/>
          </a:p>
        </p:txBody>
      </p:sp>
      <p:pic>
        <p:nvPicPr>
          <p:cNvPr id="56" name="Image 1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3785616"/>
            <a:ext cx="201168" cy="201168"/>
          </a:xfrm>
          <a:prstGeom prst="rect">
            <a:avLst/>
          </a:prstGeom>
        </p:spPr>
      </p:pic>
      <p:sp>
        <p:nvSpPr>
          <p:cNvPr id="57" name="Text 38"/>
          <p:cNvSpPr/>
          <p:nvPr/>
        </p:nvSpPr>
        <p:spPr>
          <a:xfrm>
            <a:off x="6473952" y="37490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/ CSS3</a:t>
            </a:r>
            <a:endParaRPr lang="en-US" sz="1100" dirty="0"/>
          </a:p>
        </p:txBody>
      </p:sp>
      <p:pic>
        <p:nvPicPr>
          <p:cNvPr id="58" name="Image 1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4169664"/>
            <a:ext cx="201168" cy="201168"/>
          </a:xfrm>
          <a:prstGeom prst="rect">
            <a:avLst/>
          </a:prstGeom>
        </p:spPr>
      </p:pic>
      <p:sp>
        <p:nvSpPr>
          <p:cNvPr id="59" name="Text 39"/>
          <p:cNvSpPr/>
          <p:nvPr/>
        </p:nvSpPr>
        <p:spPr>
          <a:xfrm>
            <a:off x="6473952" y="41330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home.ejs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DESPLIEGUE REPRODUCIBLE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producción en minutos con Docker Compose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02412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ARRANCAR EL PROYECTO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371600"/>
            <a:ext cx="4206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384048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20040" y="137160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141732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Clonar el repositorio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clone github.com/…/mazebank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194560"/>
            <a:ext cx="4206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20040" y="2194560"/>
            <a:ext cx="384048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20040" y="219456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224028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Crear el archivo .env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248716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credenciales y secretos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4206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320040" y="3017520"/>
            <a:ext cx="384048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0040" y="301752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" y="306324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Levantar los contenedores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31012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--build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840480"/>
            <a:ext cx="4206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20040" y="3840480"/>
            <a:ext cx="384048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20040" y="384048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2960" y="388620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¡Listo!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413308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activa en http://localhost:3000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1024128"/>
            <a:ext cx="4069080" cy="370332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937760" y="111556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SERVICIOS DISPONIBLES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1508760"/>
            <a:ext cx="3794760" cy="640080"/>
          </a:xfrm>
          <a:prstGeom prst="rect">
            <a:avLst/>
          </a:prstGeom>
          <a:solidFill>
            <a:srgbClr val="2F3131"/>
          </a:solidFill>
          <a:ln w="12700">
            <a:solidFill>
              <a:srgbClr val="2F31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1572768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5486400" y="153619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REST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0" y="179222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localhost:3000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286000"/>
            <a:ext cx="3794760" cy="640080"/>
          </a:xfrm>
          <a:prstGeom prst="rect">
            <a:avLst/>
          </a:prstGeom>
          <a:solidFill>
            <a:srgbClr val="2F3131"/>
          </a:solidFill>
          <a:ln w="12700">
            <a:solidFill>
              <a:srgbClr val="2F31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350008"/>
            <a:ext cx="320040" cy="32004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486400" y="231343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Swagger UI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486400" y="256946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localhost:3000/api-docs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892040" y="3063240"/>
            <a:ext cx="3794760" cy="640080"/>
          </a:xfrm>
          <a:prstGeom prst="rect">
            <a:avLst/>
          </a:prstGeom>
          <a:solidFill>
            <a:srgbClr val="2F3131"/>
          </a:solidFill>
          <a:ln w="12700">
            <a:solidFill>
              <a:srgbClr val="2F31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127248"/>
            <a:ext cx="320040" cy="3200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5486400" y="30906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Health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5486400" y="334670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localhost:3000/health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4892040" y="3840480"/>
            <a:ext cx="3794760" cy="640080"/>
          </a:xfrm>
          <a:prstGeom prst="rect">
            <a:avLst/>
          </a:prstGeom>
          <a:solidFill>
            <a:srgbClr val="2F3131"/>
          </a:solidFill>
          <a:ln w="12700">
            <a:solidFill>
              <a:srgbClr val="2F31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904488"/>
            <a:ext cx="320040" cy="320040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486400" y="386791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pgAdmin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5486400" y="412394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localhost:5050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4892040" y="4462272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Contenerizado con Docker — 100% reproducible en cualquier entorno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DOCUMENTACIÓN INCLUIDA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técnico del banco puede empezar de inmediato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88920" cy="329184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788920" cy="502920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972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169164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Swagger UI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11480" y="2057400"/>
            <a:ext cx="2514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interactiva en /api-docs. Prueba cualquier endpoint sin necesidad de herramientas externas. Parámetros, respuestas y autenticación documentados.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11480" y="4059936"/>
            <a:ext cx="2514600" cy="201168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11480" y="405993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localhost:3000/api-docs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182112" y="1051560"/>
            <a:ext cx="2788920" cy="329184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182112" y="1051560"/>
            <a:ext cx="27889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109728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73552" y="17099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JSDoc — Memoria Técnica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319272" y="2057400"/>
            <a:ext cx="2514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interna generada automáticamente. Cubre modelos, servicios, controladores y rutas. Disponible como HTML navegable.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3319272" y="4059936"/>
            <a:ext cx="251460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5"/>
          <p:cNvSpPr/>
          <p:nvPr/>
        </p:nvSpPr>
        <p:spPr>
          <a:xfrm>
            <a:off x="3319272" y="405993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docs/index.html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089904" y="1051560"/>
            <a:ext cx="2788920" cy="3291840"/>
          </a:xfrm>
          <a:prstGeom prst="rect">
            <a:avLst/>
          </a:prstGeom>
          <a:solidFill>
            <a:srgbClr val="F3F3F3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7"/>
          <p:cNvSpPr/>
          <p:nvPr/>
        </p:nvSpPr>
        <p:spPr>
          <a:xfrm>
            <a:off x="6089904" y="1051560"/>
            <a:ext cx="2788920" cy="502920"/>
          </a:xfrm>
          <a:prstGeom prst="rect">
            <a:avLst/>
          </a:prstGeom>
          <a:solidFill>
            <a:srgbClr val="4C4C4D"/>
          </a:solidFill>
          <a:ln w="12700">
            <a:solidFill>
              <a:srgbClr val="4C4C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904" y="109728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181344" y="1683802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README Completo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227064" y="2057400"/>
            <a:ext cx="2514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instalación, variables de entorno, ejemplos con cURL, tabla de endpoints y descripción del modelo de datos. Todo para arrancar sin fricción.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227064" y="4059936"/>
            <a:ext cx="2514600" cy="201168"/>
          </a:xfrm>
          <a:prstGeom prst="rect">
            <a:avLst/>
          </a:prstGeom>
          <a:solidFill>
            <a:srgbClr val="4C4C4D"/>
          </a:solidFill>
          <a:ln w="12700">
            <a:solidFill>
              <a:srgbClr val="4C4C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1"/>
          <p:cNvSpPr/>
          <p:nvPr/>
        </p:nvSpPr>
        <p:spPr>
          <a:xfrm>
            <a:off x="6227064" y="405993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github.com/Jaldekoa/mazebank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320040" y="448056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D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proyecto está documentado, probado y listo para revisión o integración por el equipo de MazeBank.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0749" y="502920"/>
            <a:ext cx="6949440" cy="4206240"/>
          </a:xfrm>
          <a:prstGeom prst="rect">
            <a:avLst/>
          </a:prstGeom>
          <a:solidFill>
            <a:srgbClr val="1A1C1C"/>
          </a:solidFill>
          <a:ln w="12700">
            <a:solidFill>
              <a:srgbClr val="DADAD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97280" y="502920"/>
            <a:ext cx="6949440" cy="548640"/>
          </a:xfrm>
          <a:prstGeom prst="rect">
            <a:avLst/>
          </a:prstGeom>
          <a:solidFill>
            <a:srgbClr val="9E0000"/>
          </a:solidFill>
          <a:ln w="12700">
            <a:solidFill>
              <a:srgbClr val="9E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97280" y="1051560"/>
            <a:ext cx="6949440" cy="1828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97280" y="5029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kern="0" spc="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FASE I COMPLETADA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141732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MazeBank API está lista.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infraestructura REST que MazeBank necesitaba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liderar la banca digital en Los Santos.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54480" y="2743200"/>
            <a:ext cx="1508760" cy="1234440"/>
          </a:xfrm>
          <a:prstGeom prst="rect">
            <a:avLst/>
          </a:prstGeom>
          <a:solidFill>
            <a:srgbClr val="2F3131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2884932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3255264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completa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documentada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703320" y="2743200"/>
            <a:ext cx="1508760" cy="1234440"/>
          </a:xfrm>
          <a:prstGeom prst="rect">
            <a:avLst/>
          </a:prstGeom>
          <a:solidFill>
            <a:srgbClr val="2F3131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288493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49040" y="3255264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bancaria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todas las capas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852160" y="2743200"/>
            <a:ext cx="1508760" cy="1234440"/>
          </a:xfrm>
          <a:prstGeom prst="rect">
            <a:avLst/>
          </a:prstGeom>
          <a:solidFill>
            <a:srgbClr val="2F3131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88819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897880" y="3255264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producción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Docker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0" y="4736592"/>
            <a:ext cx="9144000" cy="38404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3"/>
          <p:cNvSpPr/>
          <p:nvPr/>
        </p:nvSpPr>
        <p:spPr>
          <a:xfrm>
            <a:off x="0" y="473659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 Aldekoa  ·  github.com/Jaldekoa/mazebank  ·  Mayo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1048</Words>
  <Application>Microsoft Office PowerPoint</Application>
  <PresentationFormat>Presentación en pantalla (16:9)</PresentationFormat>
  <Paragraphs>252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Arial Black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MazeBank API — Presentación de Proyecto</dc:title>
  <dc:subject>PptxGenJS Presentation</dc:subject>
  <dc:creator>Jon Aldekoa</dc:creator>
  <cp:lastModifiedBy>Jon Aldekoa</cp:lastModifiedBy>
  <cp:revision>2</cp:revision>
  <dcterms:created xsi:type="dcterms:W3CDTF">2026-05-04T22:10:02Z</dcterms:created>
  <dcterms:modified xsi:type="dcterms:W3CDTF">2026-05-04T22:34:01Z</dcterms:modified>
</cp:coreProperties>
</file>